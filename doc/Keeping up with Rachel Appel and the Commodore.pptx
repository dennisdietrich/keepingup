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slideLayouts/slideLayout19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9" r:id="rId2"/>
    <p:sldMasterId id="2147483678" r:id="rId3"/>
  </p:sldMasterIdLst>
  <p:notesMasterIdLst>
    <p:notesMasterId r:id="rId7"/>
  </p:notesMasterIdLst>
  <p:sldIdLst>
    <p:sldId id="256" r:id="rId4"/>
    <p:sldId id="322" r:id="rId5"/>
    <p:sldId id="321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050" autoAdjust="0"/>
    <p:restoredTop sz="89557" autoAdjust="0"/>
  </p:normalViewPr>
  <p:slideViewPr>
    <p:cSldViewPr snapToGrid="0">
      <p:cViewPr varScale="1">
        <p:scale>
          <a:sx n="144" d="100"/>
          <a:sy n="144" d="100"/>
        </p:scale>
        <p:origin x="200" y="63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Master" Target="slideMasters/slideMaster3.xml"/><Relationship Id="rId7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tableStyles" Target="tableStyles.xml"/><Relationship Id="rId5" Type="http://schemas.openxmlformats.org/officeDocument/2006/relationships/slide" Target="slides/slide2.xml"/><Relationship Id="rId10" Type="http://schemas.openxmlformats.org/officeDocument/2006/relationships/theme" Target="theme/theme1.xml"/><Relationship Id="rId4" Type="http://schemas.openxmlformats.org/officeDocument/2006/relationships/slide" Target="slides/slide1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6DBF41-98D5-4B29-8B81-B31614D19ACC}" type="datetimeFigureOut">
              <a:rPr lang="en-US" smtClean="0"/>
              <a:t>8/30/24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4F40D4-862D-491C-85E3-1A34EFA2BD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87530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4F40D4-862D-491C-85E3-1A34EFA2BD0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66831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4F40D4-862D-491C-85E3-1A34EFA2BD0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1008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8/30/24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92082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8/30/24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22273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8/30/24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97797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8/30/24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5726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8/30/24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495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8/30/24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20247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8/30/24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9148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8/30/24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80423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8/30/24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21664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8/30/24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94130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8/30/24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9139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8/30/24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23105060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8/30/24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010855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8/30/24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591681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8/30/24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63508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8/30/24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11496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8/30/24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625998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66176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modor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E243F1D-FFEE-3B1B-08C5-94BC102943B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197100" y="844550"/>
            <a:ext cx="7788663" cy="5176448"/>
          </a:xfrm>
          <a:prstGeom prst="rect">
            <a:avLst/>
          </a:prstGeom>
        </p:spPr>
        <p:txBody>
          <a:bodyPr wrap="none"/>
          <a:lstStyle>
            <a:lvl1pPr marL="0" indent="0">
              <a:lnSpc>
                <a:spcPct val="88000"/>
              </a:lnSpc>
              <a:spcBef>
                <a:spcPts val="0"/>
              </a:spcBef>
              <a:buNone/>
              <a:defRPr sz="1500" baseline="0">
                <a:solidFill>
                  <a:srgbClr val="7385FF"/>
                </a:solidFill>
                <a:latin typeface="C64 Pro Mono" panose="02010609060202080101" pitchFamily="49" charset="77"/>
              </a:defRPr>
            </a:lvl1pPr>
          </a:lstStyle>
          <a:p>
            <a:pPr lvl="0"/>
            <a:r>
              <a:rPr lang="en-US" dirty="0"/>
              <a:t>Û12345678901234567890123456789012345678Û</a:t>
            </a:r>
          </a:p>
          <a:p>
            <a:pPr lvl="0"/>
            <a:r>
              <a:rPr lang="en-US" dirty="0"/>
              <a:t>1</a:t>
            </a:r>
          </a:p>
          <a:p>
            <a:pPr lvl="0"/>
            <a:r>
              <a:rPr lang="en-US" dirty="0"/>
              <a:t>2</a:t>
            </a:r>
          </a:p>
          <a:p>
            <a:pPr lvl="0"/>
            <a:r>
              <a:rPr lang="en-US" dirty="0"/>
              <a:t>3</a:t>
            </a:r>
          </a:p>
          <a:p>
            <a:pPr lvl="0"/>
            <a:r>
              <a:rPr lang="en-US" dirty="0"/>
              <a:t>4</a:t>
            </a:r>
          </a:p>
          <a:p>
            <a:pPr lvl="0"/>
            <a:r>
              <a:rPr lang="en-US" dirty="0"/>
              <a:t>5</a:t>
            </a:r>
          </a:p>
          <a:p>
            <a:pPr lvl="0"/>
            <a:r>
              <a:rPr lang="en-US" dirty="0"/>
              <a:t>6</a:t>
            </a:r>
          </a:p>
          <a:p>
            <a:pPr lvl="0"/>
            <a:r>
              <a:rPr lang="en-US" dirty="0"/>
              <a:t>7</a:t>
            </a:r>
          </a:p>
          <a:p>
            <a:pPr lvl="0"/>
            <a:r>
              <a:rPr lang="en-US" dirty="0"/>
              <a:t>8</a:t>
            </a:r>
          </a:p>
          <a:p>
            <a:pPr lvl="0"/>
            <a:r>
              <a:rPr lang="en-US" dirty="0"/>
              <a:t>9</a:t>
            </a:r>
          </a:p>
          <a:p>
            <a:pPr lvl="0"/>
            <a:r>
              <a:rPr lang="en-US" dirty="0"/>
              <a:t>0</a:t>
            </a:r>
          </a:p>
          <a:p>
            <a:pPr lvl="0"/>
            <a:r>
              <a:rPr lang="en-US" dirty="0"/>
              <a:t>1</a:t>
            </a:r>
          </a:p>
          <a:p>
            <a:pPr lvl="0"/>
            <a:r>
              <a:rPr lang="en-US" dirty="0"/>
              <a:t>2</a:t>
            </a:r>
          </a:p>
          <a:p>
            <a:pPr lvl="0"/>
            <a:r>
              <a:rPr lang="en-US" dirty="0"/>
              <a:t>3</a:t>
            </a:r>
          </a:p>
          <a:p>
            <a:pPr lvl="0"/>
            <a:r>
              <a:rPr lang="en-US" dirty="0"/>
              <a:t>4</a:t>
            </a:r>
          </a:p>
          <a:p>
            <a:pPr lvl="0"/>
            <a:r>
              <a:rPr lang="en-US" dirty="0"/>
              <a:t>5</a:t>
            </a:r>
          </a:p>
          <a:p>
            <a:pPr lvl="0"/>
            <a:r>
              <a:rPr lang="en-US" dirty="0"/>
              <a:t>6</a:t>
            </a:r>
          </a:p>
          <a:p>
            <a:pPr lvl="0"/>
            <a:r>
              <a:rPr lang="en-US" dirty="0"/>
              <a:t>7</a:t>
            </a:r>
          </a:p>
          <a:p>
            <a:pPr lvl="0"/>
            <a:r>
              <a:rPr lang="en-US" dirty="0"/>
              <a:t>8</a:t>
            </a:r>
          </a:p>
          <a:p>
            <a:pPr lvl="0"/>
            <a:r>
              <a:rPr lang="en-US" dirty="0"/>
              <a:t>9</a:t>
            </a:r>
          </a:p>
          <a:p>
            <a:pPr lvl="0"/>
            <a:r>
              <a:rPr lang="en-US" dirty="0"/>
              <a:t>0</a:t>
            </a:r>
          </a:p>
          <a:p>
            <a:pPr lvl="0"/>
            <a:r>
              <a:rPr lang="en-US" dirty="0"/>
              <a:t>1</a:t>
            </a:r>
          </a:p>
          <a:p>
            <a:pPr lvl="0"/>
            <a:r>
              <a:rPr lang="en-US" dirty="0"/>
              <a:t>2</a:t>
            </a:r>
          </a:p>
          <a:p>
            <a:pPr lvl="0"/>
            <a:r>
              <a:rPr lang="en-US" dirty="0"/>
              <a:t>3</a:t>
            </a:r>
          </a:p>
          <a:p>
            <a:pPr lvl="0"/>
            <a:r>
              <a:rPr lang="en-US" dirty="0" err="1"/>
              <a:t>Û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61610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8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F9BC75CE-03FF-4667-898C-4C70B4392062}" type="datetimeFigureOut">
              <a:rPr lang="en-US" smtClean="0"/>
              <a:t>8/30/24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335892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04025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680170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0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ennisdietrich/KeepingUp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0E8B18-EE58-FCFA-5F4C-B4E020A1A9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51020"/>
            <a:ext cx="8825658" cy="3329581"/>
          </a:xfrm>
        </p:spPr>
        <p:txBody>
          <a:bodyPr/>
          <a:lstStyle/>
          <a:p>
            <a:r>
              <a:rPr lang="en-US" dirty="0"/>
              <a:t>Keeping up with Rachel Appel and the Commodore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BF667715-1050-2040-8DF1-798ADAED5BFB}"/>
              </a:ext>
            </a:extLst>
          </p:cNvPr>
          <p:cNvSpPr txBox="1">
            <a:spLocks/>
          </p:cNvSpPr>
          <p:nvPr/>
        </p:nvSpPr>
        <p:spPr>
          <a:xfrm>
            <a:off x="1154955" y="5638800"/>
            <a:ext cx="8825658" cy="86142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dirty="0"/>
              <a:t>Dennis Dietrich</a:t>
            </a:r>
            <a:br>
              <a:rPr lang="en-US" dirty="0"/>
            </a:br>
            <a:r>
              <a:rPr lang="en-US" dirty="0"/>
              <a:t>Manager Software Development ICS, Phoenix Contact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83710E30-B99D-9D8F-6DBD-62D6866A90A5}"/>
              </a:ext>
            </a:extLst>
          </p:cNvPr>
          <p:cNvSpPr txBox="1">
            <a:spLocks/>
          </p:cNvSpPr>
          <p:nvPr/>
        </p:nvSpPr>
        <p:spPr>
          <a:xfrm>
            <a:off x="1154955" y="6581001"/>
            <a:ext cx="8825658" cy="276999"/>
          </a:xfrm>
          <a:prstGeom prst="rect">
            <a:avLst/>
          </a:prstGeom>
        </p:spPr>
        <p:txBody>
          <a:bodyPr vert="horz" lIns="91440" tIns="45720" rIns="91440" bIns="45720" rtlCol="0" anchor="t">
            <a:sp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sz="1200" dirty="0"/>
              <a:t>Rev. 1 (2024-09-??), </a:t>
            </a:r>
            <a:r>
              <a:rPr lang="en-US" sz="1200" dirty="0">
                <a:hlinkClick r:id="rId3"/>
              </a:rPr>
              <a:t>https://github.com/dennisdietrich/KeepingUp/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049190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ADA3337-D615-36C5-1A8A-4AB9ACC7C01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    **** COMMODORE 64 BASIC V2 ****</a:t>
            </a:r>
          </a:p>
          <a:p>
            <a:endParaRPr lang="en-US" dirty="0"/>
          </a:p>
          <a:p>
            <a:r>
              <a:rPr lang="en-US" dirty="0"/>
              <a:t> 64K RAM SYSTEM  38911 BASIC BYTES FREE</a:t>
            </a:r>
          </a:p>
          <a:p>
            <a:endParaRPr lang="en-US" dirty="0"/>
          </a:p>
          <a:p>
            <a:r>
              <a:rPr lang="en-US" dirty="0"/>
              <a:t>READY.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        </a:t>
            </a:r>
            <a:r>
              <a:rPr lang="en-US" dirty="0">
                <a:solidFill>
                  <a:srgbClr val="FFFFFF"/>
                </a:solidFill>
              </a:rPr>
              <a:t>KEEPING UP WITH RACHEL</a:t>
            </a:r>
          </a:p>
          <a:p>
            <a:r>
              <a:rPr lang="en-US" dirty="0">
                <a:solidFill>
                  <a:srgbClr val="FFFFFF"/>
                </a:solidFill>
              </a:rPr>
              <a:t>        APPEL AND THE COMMODORE</a:t>
            </a:r>
          </a:p>
          <a:p>
            <a:endParaRPr lang="en-US" dirty="0">
              <a:solidFill>
                <a:srgbClr val="FFFFFF"/>
              </a:solidFill>
            </a:endParaRPr>
          </a:p>
          <a:p>
            <a:endParaRPr lang="en-US" dirty="0">
              <a:solidFill>
                <a:srgbClr val="FFFFFF"/>
              </a:solidFill>
            </a:endParaRPr>
          </a:p>
          <a:p>
            <a:endParaRPr lang="en-US" dirty="0">
              <a:solidFill>
                <a:srgbClr val="FFFFFF"/>
              </a:solidFill>
            </a:endParaRPr>
          </a:p>
          <a:p>
            <a:endParaRPr lang="en-US" dirty="0">
              <a:solidFill>
                <a:srgbClr val="FFFFFF"/>
              </a:solidFill>
            </a:endParaRPr>
          </a:p>
          <a:p>
            <a:endParaRPr lang="en-US" dirty="0">
              <a:solidFill>
                <a:srgbClr val="FFFFFF"/>
              </a:solidFill>
            </a:endParaRPr>
          </a:p>
          <a:p>
            <a:endParaRPr lang="en-US" dirty="0">
              <a:solidFill>
                <a:srgbClr val="FFFFFF"/>
              </a:solidFill>
            </a:endParaRPr>
          </a:p>
          <a:p>
            <a:endParaRPr lang="en-US" dirty="0">
              <a:solidFill>
                <a:srgbClr val="FFFFFF"/>
              </a:solidFill>
            </a:endParaRPr>
          </a:p>
          <a:p>
            <a:endParaRPr lang="en-US" dirty="0">
              <a:solidFill>
                <a:srgbClr val="FFFFFF"/>
              </a:solidFill>
            </a:endParaRPr>
          </a:p>
          <a:p>
            <a:endParaRPr lang="en-US" dirty="0">
              <a:solidFill>
                <a:srgbClr val="FFFFFF"/>
              </a:solidFill>
            </a:endParaRPr>
          </a:p>
          <a:p>
            <a:endParaRPr lang="en-US" dirty="0">
              <a:solidFill>
                <a:srgbClr val="FFFFFF"/>
              </a:solidFill>
            </a:endParaRPr>
          </a:p>
          <a:p>
            <a:r>
              <a:rPr lang="en-US" dirty="0">
                <a:solidFill>
                  <a:srgbClr val="FFFFFF"/>
                </a:solidFill>
              </a:rPr>
              <a:t>DENNIS DIETRICH</a:t>
            </a:r>
          </a:p>
          <a:p>
            <a:endParaRPr lang="en-US" dirty="0">
              <a:solidFill>
                <a:srgbClr val="FFFFFF"/>
              </a:solidFill>
            </a:endParaRPr>
          </a:p>
          <a:p>
            <a:r>
              <a:rPr lang="en-US" dirty="0">
                <a:solidFill>
                  <a:srgbClr val="FFFFFF"/>
                </a:solidFill>
              </a:rPr>
              <a:t>MANAGER SOFTWARE DEVELOPMENT ICS</a:t>
            </a:r>
          </a:p>
          <a:p>
            <a:r>
              <a:rPr lang="en-US" dirty="0">
                <a:solidFill>
                  <a:srgbClr val="FFFFFF"/>
                </a:solidFill>
              </a:rPr>
              <a:t>PHOENIX CONTACT</a:t>
            </a:r>
          </a:p>
        </p:txBody>
      </p:sp>
      <p:pic>
        <p:nvPicPr>
          <p:cNvPr id="4" name="Picture 3" descr="Pixelated portrait of Rachel Appel">
            <a:extLst>
              <a:ext uri="{FF2B5EF4-FFF2-40B4-BE49-F238E27FC236}">
                <a16:creationId xmlns:a16="http://schemas.microsoft.com/office/drawing/2014/main" id="{D97BDFFB-81D7-33F2-A623-49CAE8092B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602" y="506028"/>
            <a:ext cx="3657600" cy="3657600"/>
          </a:xfrm>
          <a:prstGeom prst="rect">
            <a:avLst/>
          </a:prstGeom>
          <a:ln w="25400">
            <a:solidFill>
              <a:schemeClr val="accent1"/>
            </a:solidFill>
          </a:ln>
          <a:effectLst>
            <a:outerShdw blurRad="127000" dist="127000" dir="2700000" algn="tl" rotWithShape="0">
              <a:schemeClr val="tx2">
                <a:alpha val="80000"/>
              </a:schemeClr>
            </a:outerShdw>
          </a:effectLst>
        </p:spPr>
      </p:pic>
      <p:pic>
        <p:nvPicPr>
          <p:cNvPr id="8" name="Picture 7" descr="Pixelated cover of ‘Artificial Intelligence Projects for the Commodore 64’ by Timothy J. O’Malley">
            <a:extLst>
              <a:ext uri="{FF2B5EF4-FFF2-40B4-BE49-F238E27FC236}">
                <a16:creationId xmlns:a16="http://schemas.microsoft.com/office/drawing/2014/main" id="{7D5F7B0D-7636-A806-9236-041EB2DE615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6348" y="1105481"/>
            <a:ext cx="4267200" cy="5289550"/>
          </a:xfrm>
          <a:prstGeom prst="rect">
            <a:avLst/>
          </a:prstGeom>
          <a:ln w="25400">
            <a:solidFill>
              <a:schemeClr val="accent1"/>
            </a:solidFill>
          </a:ln>
          <a:effectLst>
            <a:outerShdw blurRad="127000" dist="127000" dir="2700000" algn="tl" rotWithShape="0">
              <a:schemeClr val="tx2">
                <a:alpha val="80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71121188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qr code on a white background&#10;&#10;Description automatically generated">
            <a:extLst>
              <a:ext uri="{FF2B5EF4-FFF2-40B4-BE49-F238E27FC236}">
                <a16:creationId xmlns:a16="http://schemas.microsoft.com/office/drawing/2014/main" id="{607B7429-81E5-49AE-8F5B-280693DF34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3000" y="1016000"/>
            <a:ext cx="4826000" cy="4826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306C212-B3B4-8E92-B9B3-B626EF37EBA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061794" y="2828836"/>
            <a:ext cx="10068412" cy="1200329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Thanks for listening!</a:t>
            </a:r>
          </a:p>
        </p:txBody>
      </p:sp>
      <p:pic>
        <p:nvPicPr>
          <p:cNvPr id="3" name="Picture 2" descr="GitHub">
            <a:extLst>
              <a:ext uri="{FF2B5EF4-FFF2-40B4-BE49-F238E27FC236}">
                <a16:creationId xmlns:a16="http://schemas.microsoft.com/office/drawing/2014/main" id="{1C6807BB-2FE0-8AC1-C000-303938DA65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5303520"/>
            <a:ext cx="274320" cy="27432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C00689C-58BE-8CB3-A3BE-5AC4726F5F67}"/>
              </a:ext>
            </a:extLst>
          </p:cNvPr>
          <p:cNvSpPr txBox="1"/>
          <p:nvPr/>
        </p:nvSpPr>
        <p:spPr>
          <a:xfrm>
            <a:off x="800098" y="5247459"/>
            <a:ext cx="34576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dennisdietrich</a:t>
            </a:r>
            <a:endParaRPr lang="en-US" sz="2000" dirty="0"/>
          </a:p>
        </p:txBody>
      </p:sp>
      <p:pic>
        <p:nvPicPr>
          <p:cNvPr id="7" name="Picture 6" descr="LinkedIn">
            <a:extLst>
              <a:ext uri="{FF2B5EF4-FFF2-40B4-BE49-F238E27FC236}">
                <a16:creationId xmlns:a16="http://schemas.microsoft.com/office/drawing/2014/main" id="{8FAF0638-CCFD-84A0-547A-EA307F2E70C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5715000"/>
            <a:ext cx="274320" cy="27432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38AE759-2568-CC79-5E0A-3FDD566C7DDA}"/>
              </a:ext>
            </a:extLst>
          </p:cNvPr>
          <p:cNvSpPr txBox="1"/>
          <p:nvPr/>
        </p:nvSpPr>
        <p:spPr>
          <a:xfrm>
            <a:off x="800099" y="5664321"/>
            <a:ext cx="34576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dcdietrich</a:t>
            </a:r>
            <a:endParaRPr lang="en-US" sz="2000" dirty="0"/>
          </a:p>
        </p:txBody>
      </p:sp>
      <p:pic>
        <p:nvPicPr>
          <p:cNvPr id="9" name="Graphic 8" descr="Mastodon">
            <a:extLst>
              <a:ext uri="{FF2B5EF4-FFF2-40B4-BE49-F238E27FC236}">
                <a16:creationId xmlns:a16="http://schemas.microsoft.com/office/drawing/2014/main" id="{BF98801E-9928-B651-1FAE-635F24D543A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7200" y="6126480"/>
            <a:ext cx="274320" cy="29285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FDCD6FD-B230-C7B5-B746-B2489B5E1A1A}"/>
              </a:ext>
            </a:extLst>
          </p:cNvPr>
          <p:cNvSpPr txBox="1"/>
          <p:nvPr/>
        </p:nvSpPr>
        <p:spPr>
          <a:xfrm>
            <a:off x="800100" y="6064431"/>
            <a:ext cx="59355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@dc@social.advancedsoftware.engineering</a:t>
            </a:r>
          </a:p>
        </p:txBody>
      </p:sp>
    </p:spTree>
    <p:extLst>
      <p:ext uri="{BB962C8B-B14F-4D97-AF65-F5344CB8AC3E}">
        <p14:creationId xmlns:p14="http://schemas.microsoft.com/office/powerpoint/2010/main" val="2866460314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-0.41227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20625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Blank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Commodore 64">
  <a:themeElements>
    <a:clrScheme name="Commodore 64">
      <a:dk1>
        <a:srgbClr val="7385FF"/>
      </a:dk1>
      <a:lt1>
        <a:srgbClr val="FFFFFF"/>
      </a:lt1>
      <a:dk2>
        <a:srgbClr val="000000"/>
      </a:dk2>
      <a:lt2>
        <a:srgbClr val="2C3CEC"/>
      </a:lt2>
      <a:accent1>
        <a:srgbClr val="AF3C58"/>
      </a:accent1>
      <a:accent2>
        <a:srgbClr val="7EF3D6"/>
      </a:accent2>
      <a:accent3>
        <a:srgbClr val="AA40F5"/>
      </a:accent3>
      <a:accent4>
        <a:srgbClr val="61D532"/>
      </a:accent4>
      <a:accent5>
        <a:srgbClr val="FFFF46"/>
      </a:accent5>
      <a:accent6>
        <a:srgbClr val="B7FF86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87867195-f2b8-4ac2-b0b6-6bb73cb33afc}" enabled="1" method="Privilege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3693</TotalTime>
  <Words>85</Words>
  <Application>Microsoft Macintosh PowerPoint</Application>
  <PresentationFormat>Widescreen</PresentationFormat>
  <Paragraphs>34</Paragraphs>
  <Slides>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3</vt:i4>
      </vt:variant>
    </vt:vector>
  </HeadingPairs>
  <TitlesOfParts>
    <vt:vector size="11" baseType="lpstr">
      <vt:lpstr>Arial</vt:lpstr>
      <vt:lpstr>C64 Pro Mono</vt:lpstr>
      <vt:lpstr>Calibri</vt:lpstr>
      <vt:lpstr>Century Gothic</vt:lpstr>
      <vt:lpstr>Wingdings 3</vt:lpstr>
      <vt:lpstr>Ion</vt:lpstr>
      <vt:lpstr>Blank</vt:lpstr>
      <vt:lpstr>Commodore 64</vt:lpstr>
      <vt:lpstr>Keeping up with Rachel Appel and the Commodore</vt:lpstr>
      <vt:lpstr>PowerPoint Presentation</vt:lpstr>
      <vt:lpstr>Thanks for listening!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unsafe C#</dc:title>
  <dc:creator>Dennis Dietrich</dc:creator>
  <cp:lastModifiedBy>Dennis Dietrich</cp:lastModifiedBy>
  <cp:revision>205</cp:revision>
  <dcterms:created xsi:type="dcterms:W3CDTF">2022-06-17T15:35:12Z</dcterms:created>
  <dcterms:modified xsi:type="dcterms:W3CDTF">2024-08-30T16:57:56Z</dcterms:modified>
</cp:coreProperties>
</file>